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69" r:id="rId4"/>
    <p:sldId id="270" r:id="rId5"/>
    <p:sldId id="271" r:id="rId6"/>
    <p:sldId id="272" r:id="rId7"/>
    <p:sldId id="274" r:id="rId8"/>
    <p:sldId id="275" r:id="rId9"/>
    <p:sldId id="276" r:id="rId10"/>
    <p:sldId id="277" r:id="rId11"/>
    <p:sldId id="278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BEDB"/>
    <a:srgbClr val="1991D5"/>
    <a:srgbClr val="08559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24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52A4E-DE3E-4351-AE84-EA56BAAD628C}" type="datetimeFigureOut">
              <a:rPr lang="en-ZA" smtClean="0"/>
              <a:t>2024/07/31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2CC6C-28AC-40F2-AB66-B8FA4889E31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7948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EF00-B85D-A6CE-4441-0268958EB3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FB5FA8-FBA3-0AAF-8546-42D454029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6270E-23FD-0648-F74A-26DD7ED4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DA5-D66C-4565-99D0-022F488AB45A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C6C59-5492-6B82-DBB9-125FAFDF7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2A497-154E-48A1-CC69-6C0DFD95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269682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BE47-4D67-E6AB-B122-128D01DAF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0C10-B70E-FA88-2AAA-AC20DDBB7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D4061-FE97-0892-48AE-33212BC9C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8BBF4-93DD-42CA-8DA7-137AF3AC1A8A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C84B7-9D99-C122-1FFD-AB492C9D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F78E-63AF-3319-C5D3-874C997F4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113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1BE18-941A-F659-131A-64F2F4D9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0C47D-ADE3-2A52-FB02-3B0ED8E630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0F726-A877-C616-7058-463FB5D84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CC2FB-FA8B-4E82-9D9A-E49C0E5D994E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990CF-7C39-A3A0-4DF7-139E3DFD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1BFF-9AF9-70B7-1075-373D7B8F6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2862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FCE6-0509-04AF-A7DA-A2CBAFD6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8AD35-5C3B-15D1-DAED-EA6785B06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7E1EF-DF29-37F6-7314-E46D624FF5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9CF15-0B53-650C-3DD4-591509DC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E4D34-E561-4545-ABE8-30300D731458}" type="datetime1">
              <a:rPr lang="en-ZA" smtClean="0"/>
              <a:t>2024/07/31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508ED-17AA-A512-6A5D-FAA36C16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E8C620-AB1C-37FC-756D-C16C5FA6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819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D083-9C16-66F3-813E-F57487E8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D0705-85EB-D8CF-0118-E13790B88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5623F-B08C-6B24-691D-435BA5636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BDE9F2-BF93-F6D6-6DAC-7B29CFCA7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41C4D5-7F0D-1574-0EF2-FFEAF7D60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DEB95-73A3-1F25-01B8-ED175E3B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69F34-570E-4EA1-A506-E7B59CA15043}" type="datetime1">
              <a:rPr lang="en-ZA" smtClean="0"/>
              <a:t>2024/07/31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E6FC11-4CC2-2A60-9D73-C0DF16AA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FB6C4-3437-51E5-3667-F9E4631D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07736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9A26-4F9A-E3D9-5CE2-2893BE773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51DB4F-C652-5BCF-5BFF-6DCEE7AD0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D5AC8-D153-4756-9F89-4F2AA8D354FE}" type="datetime1">
              <a:rPr lang="en-ZA" smtClean="0"/>
              <a:t>2024/07/31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5B95C-BAA5-7028-63AD-5A66F06BF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CE9C5C-DD37-3B7B-60F0-02597993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31543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FCB1BC-02AD-6711-57D2-E77B4EF67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24938-FB47-436D-A8D0-D4F9F32F4C29}" type="datetime1">
              <a:rPr lang="en-ZA" smtClean="0"/>
              <a:t>2024/07/31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F5519-749B-81BF-138B-590F20496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AF0A5-7E8F-ACFD-04A8-7DFA03F0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4440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FA8A-7D55-C11D-EAA2-A3CDA5133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249F4-7991-5EFF-A248-EDE6F5DDC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48B8D-B077-AF25-F472-FDD301980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7FEDE-A7F8-3BE8-1F4E-5924DB4EB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E2C25-3CDB-4DDA-A1F9-4F6C8F531700}" type="datetime1">
              <a:rPr lang="en-ZA" smtClean="0"/>
              <a:t>2024/07/31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B41FD-0275-EB97-01CF-C12A5DF4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B0159-1722-95A1-46EC-440BF823A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8435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42E62-5D14-9367-825E-29B5E8AE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F24604-2346-43F3-BE8A-820AEC9B71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3E8921-2C1F-F5DF-F800-1F174A34A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EEB2FA-83A3-E873-A830-26DEEF63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55FA9-D17F-4564-9631-CC0ADD3ACFE7}" type="datetime1">
              <a:rPr lang="en-ZA" smtClean="0"/>
              <a:t>2024/07/31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64E0E-2069-9F73-99FE-7D12BD54A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87035-CE4F-9C46-ADA9-E4E382B3B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2146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34CD-8495-6B6F-DBDB-0EBC75953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FCC99A-CEF7-79AE-7597-BB55405FB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1E376-2C18-20D5-09D3-E0715C3CE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96CBF-273C-4E5F-9A4B-78DCA1C0E5F4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34567-EA8A-94C0-79E9-F0D467B8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6A4FC-9A9A-EA6A-B042-7E2356C7E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45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B9719-45AA-826E-B169-B4821C02D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7A2475-DAAD-EC69-1BAB-C117CA02C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BEAF8-E118-97DA-E96D-2BF7A0EFC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4CE03-DDAF-415D-9D70-49E95A319941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DA371-45CC-3DA9-635F-A899EED62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8BF4F9-986B-36EA-F68C-76886D95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14907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FE42C-2110-7E29-EF2B-B9C1A078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29496F-FBDC-2561-909E-0D3A9B97F5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D8217-6D5B-8B5F-E71B-8200C0610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496BA-7EB0-4274-8B07-49C729003667}" type="datetime1">
              <a:rPr lang="en-ZA" smtClean="0"/>
              <a:t>2024/07/31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BE998-8C0B-07A6-EF9F-D9024D77C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D3558-3ADC-AA8F-04DF-798DF3C045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B93603-BBB4-47AC-9D1F-DB86D93B623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5315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982102-8D91-C319-8D45-B87D8B8EEBA4}"/>
              </a:ext>
            </a:extLst>
          </p:cNvPr>
          <p:cNvSpPr/>
          <p:nvPr/>
        </p:nvSpPr>
        <p:spPr>
          <a:xfrm>
            <a:off x="7972697" y="-1"/>
            <a:ext cx="4219303" cy="685800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EA47A8-4AE1-36D3-5C74-114AAA974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923" y="1592706"/>
            <a:ext cx="6820988" cy="943112"/>
          </a:xfrm>
        </p:spPr>
        <p:txBody>
          <a:bodyPr>
            <a:normAutofit/>
          </a:bodyPr>
          <a:lstStyle/>
          <a:p>
            <a:pPr algn="r"/>
            <a:r>
              <a:rPr lang="en-GB" sz="4800" dirty="0">
                <a:latin typeface="Aptos" panose="020B0004020202020204" pitchFamily="34" charset="0"/>
                <a:cs typeface="Arial" panose="020B0604020202020204" pitchFamily="34" charset="0"/>
              </a:rPr>
              <a:t>Cloud Development 1A</a:t>
            </a:r>
            <a:endParaRPr lang="en-ZA" sz="48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0C96CC-C635-08F1-B520-394B32195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8893" y="2817721"/>
            <a:ext cx="4399018" cy="1516237"/>
          </a:xfrm>
        </p:spPr>
        <p:txBody>
          <a:bodyPr>
            <a:normAutofit/>
          </a:bodyPr>
          <a:lstStyle/>
          <a:p>
            <a:pPr algn="r"/>
            <a:r>
              <a:rPr lang="en-GB" sz="1800" dirty="0">
                <a:latin typeface="Aptos" panose="020B0004020202020204" pitchFamily="34" charset="0"/>
              </a:rPr>
              <a:t>BCA1</a:t>
            </a:r>
          </a:p>
          <a:p>
            <a:pPr algn="r"/>
            <a:endParaRPr lang="en-GB" sz="1800" dirty="0">
              <a:latin typeface="Aptos" panose="020B0004020202020204" pitchFamily="34" charset="0"/>
            </a:endParaRPr>
          </a:p>
          <a:p>
            <a:pPr algn="r"/>
            <a:r>
              <a:rPr lang="en-ZA" sz="1800" b="1" dirty="0">
                <a:latin typeface="Aptos" panose="020B0004020202020204" pitchFamily="34" charset="0"/>
              </a:rPr>
              <a:t>Faculty of Science and Technology</a:t>
            </a:r>
            <a:r>
              <a:rPr lang="en-ZA" sz="1800" dirty="0">
                <a:latin typeface="Aptos" panose="020B0004020202020204" pitchFamily="34" charset="0"/>
              </a:rPr>
              <a:t>: School of Computer Science</a:t>
            </a:r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A84A9E74-17E2-4EA1-58C6-DFEB9E550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89339"/>
            <a:ext cx="1083129" cy="1083129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CAED3FF0-82AB-6949-688A-CAC8EB47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Module Outline – Week 1 2024</a:t>
            </a:r>
            <a:endParaRPr lang="en-ZA" dirty="0">
              <a:solidFill>
                <a:schemeClr val="bg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EEC64BF-A396-2198-C3FF-E3861A839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1D52596-0F19-4E06-B0B0-1307074C12ED}" type="slidenum">
              <a:rPr lang="en-ZA" smtClean="0">
                <a:solidFill>
                  <a:schemeClr val="bg2">
                    <a:lumMod val="75000"/>
                  </a:schemeClr>
                </a:solidFill>
                <a:latin typeface="Aptos" panose="020B0004020202020204" pitchFamily="34" charset="0"/>
              </a:rPr>
              <a:t>1</a:t>
            </a:fld>
            <a:endParaRPr lang="en-ZA" dirty="0">
              <a:solidFill>
                <a:schemeClr val="bg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B304B-BF08-87E8-77DA-79FCC9A5ACDD}"/>
              </a:ext>
            </a:extLst>
          </p:cNvPr>
          <p:cNvSpPr txBox="1"/>
          <p:nvPr/>
        </p:nvSpPr>
        <p:spPr>
          <a:xfrm>
            <a:off x="4206239" y="2459616"/>
            <a:ext cx="3031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2000" b="1" dirty="0">
                <a:latin typeface="Aptos" panose="020B0004020202020204" pitchFamily="34" charset="0"/>
              </a:rPr>
              <a:t>CLDV6212</a:t>
            </a:r>
          </a:p>
          <a:p>
            <a:pPr algn="r"/>
            <a:endParaRPr lang="en-ZA" sz="2000" b="1" dirty="0">
              <a:latin typeface="Aptos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5DAF90-A4E7-0F9C-09B6-3D8EC67C9AE4}"/>
              </a:ext>
            </a:extLst>
          </p:cNvPr>
          <p:cNvSpPr txBox="1"/>
          <p:nvPr/>
        </p:nvSpPr>
        <p:spPr>
          <a:xfrm>
            <a:off x="3018608" y="5107573"/>
            <a:ext cx="42193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b="1" dirty="0">
                <a:latin typeface="Aptos" panose="020B0004020202020204" pitchFamily="34" charset="0"/>
              </a:rPr>
              <a:t>Lecturer</a:t>
            </a:r>
            <a:r>
              <a:rPr lang="en-ZA" dirty="0">
                <a:latin typeface="Aptos" panose="020B0004020202020204" pitchFamily="34" charset="0"/>
              </a:rPr>
              <a:t>: Byron McCall</a:t>
            </a:r>
          </a:p>
          <a:p>
            <a:pPr algn="r"/>
            <a:r>
              <a:rPr lang="en-ZA" b="1" dirty="0">
                <a:latin typeface="Aptos" panose="020B0004020202020204" pitchFamily="34" charset="0"/>
              </a:rPr>
              <a:t>Email</a:t>
            </a:r>
            <a:r>
              <a:rPr lang="en-ZA" dirty="0">
                <a:latin typeface="Aptos" panose="020B0004020202020204" pitchFamily="34" charset="0"/>
              </a:rPr>
              <a:t>: </a:t>
            </a:r>
            <a:r>
              <a:rPr lang="en-ZA" dirty="0" err="1">
                <a:solidFill>
                  <a:srgbClr val="92D050"/>
                </a:solidFill>
                <a:latin typeface="Aptos" panose="020B0004020202020204" pitchFamily="34" charset="0"/>
              </a:rPr>
              <a:t>bmcall@varsitycollege.co.za</a:t>
            </a:r>
            <a:endParaRPr lang="en-ZA" dirty="0">
              <a:solidFill>
                <a:srgbClr val="92D050"/>
              </a:solidFill>
              <a:latin typeface="Aptos" panose="020B0004020202020204" pitchFamily="34" charset="0"/>
            </a:endParaRPr>
          </a:p>
          <a:p>
            <a:pPr algn="r"/>
            <a:endParaRPr lang="en-ZA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5E7E9A-D78E-9957-8E60-A406F96A192D}"/>
              </a:ext>
            </a:extLst>
          </p:cNvPr>
          <p:cNvSpPr txBox="1"/>
          <p:nvPr/>
        </p:nvSpPr>
        <p:spPr>
          <a:xfrm>
            <a:off x="2762250" y="1350317"/>
            <a:ext cx="46846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rgbClr val="92D050"/>
                </a:solidFill>
                <a:latin typeface="Aptos" panose="020B0004020202020204" pitchFamily="34" charset="0"/>
              </a:rPr>
              <a:t>Theme 1: Module Outline + Introduction</a:t>
            </a:r>
          </a:p>
        </p:txBody>
      </p:sp>
    </p:spTree>
    <p:extLst>
      <p:ext uri="{BB962C8B-B14F-4D97-AF65-F5344CB8AC3E}">
        <p14:creationId xmlns:p14="http://schemas.microsoft.com/office/powerpoint/2010/main" val="1471185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12368-31BC-0813-B24C-23472C75C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Recap of Azure Event Hubs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F8659-DB25-51B4-E8EA-C91ACA942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61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4200" b="1" dirty="0"/>
              <a:t>Definition and Purpose:</a:t>
            </a:r>
            <a:endParaRPr lang="en-GB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Azure Event Hubs</a:t>
            </a:r>
            <a:r>
              <a:rPr lang="en-GB" sz="4200" dirty="0"/>
              <a:t> is a scalable data streaming platform and event ingestion service.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dirty="0"/>
              <a:t>It can process millions of events per second, making it ideal for big data and real-time analytics solutions.</a:t>
            </a:r>
          </a:p>
          <a:p>
            <a:pPr marL="0" indent="0">
              <a:buNone/>
            </a:pPr>
            <a:r>
              <a:rPr lang="en-GB" sz="4200" b="1" dirty="0"/>
              <a:t>Architecture Overview:</a:t>
            </a:r>
            <a:endParaRPr lang="en-GB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Event Producers:</a:t>
            </a:r>
            <a:r>
              <a:rPr lang="en-GB" sz="4200" dirty="0"/>
              <a:t> Devices, applications, and services that send data to Event Hubs.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Event Hubs Namespace:</a:t>
            </a:r>
            <a:r>
              <a:rPr lang="en-GB" sz="4200" dirty="0"/>
              <a:t> A container for managing one or more Event Hubs.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Event Hub:</a:t>
            </a:r>
            <a:r>
              <a:rPr lang="en-GB" sz="4200" dirty="0"/>
              <a:t> A stream of events.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Partitions:</a:t>
            </a:r>
            <a:r>
              <a:rPr lang="en-GB" sz="4200" dirty="0"/>
              <a:t> Sub-divisions of an Event Hub to parallelize the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Consumer Groups:</a:t>
            </a:r>
            <a:r>
              <a:rPr lang="en-GB" sz="4200" dirty="0"/>
              <a:t> Provide views of the event stream, allowing multiple applications to independently consume data.</a:t>
            </a:r>
          </a:p>
          <a:p>
            <a:pPr marL="0" indent="0">
              <a:buNone/>
            </a:pPr>
            <a:r>
              <a:rPr lang="en-GB" sz="4200" b="1" dirty="0"/>
              <a:t>Key Features:</a:t>
            </a:r>
            <a:endParaRPr lang="en-GB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High Throughput:</a:t>
            </a:r>
            <a:r>
              <a:rPr lang="en-GB" sz="4200" dirty="0"/>
              <a:t> Capable of handling large volumes of data with low latency.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Real-time Analytics:</a:t>
            </a:r>
            <a:r>
              <a:rPr lang="en-GB" sz="4200" dirty="0"/>
              <a:t> Supports real-time data processing with Azure Stream Analytics.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Scalability:</a:t>
            </a:r>
            <a:r>
              <a:rPr lang="en-GB" sz="4200" dirty="0"/>
              <a:t> Easily scales to handle more data by adding throughput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Integration:</a:t>
            </a:r>
            <a:r>
              <a:rPr lang="en-GB" sz="4200" dirty="0"/>
              <a:t> Integrates seamlessly with other Azure services like Azure Functions, Azure Stream Analytics, and Azure Data Lake.</a:t>
            </a:r>
          </a:p>
          <a:p>
            <a:pPr marL="0" indent="0">
              <a:buNone/>
            </a:pPr>
            <a:r>
              <a:rPr lang="en-GB" sz="4200" b="1" dirty="0"/>
              <a:t>Use Cases:</a:t>
            </a:r>
            <a:endParaRPr lang="en-GB" sz="4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IoT Data Ingestion:</a:t>
            </a:r>
            <a:r>
              <a:rPr lang="en-GB" sz="4200" dirty="0"/>
              <a:t> Collecting data from IoT devices for real-time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Application Logging:</a:t>
            </a:r>
            <a:r>
              <a:rPr lang="en-GB" sz="4200" dirty="0"/>
              <a:t> Aggregating logs from multiple applications for monitoring and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Live Dashboarding:</a:t>
            </a:r>
            <a:r>
              <a:rPr lang="en-GB" sz="4200" dirty="0"/>
              <a:t> Providing real-time updates on dashboards by ingesting and processing live data feeds.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4200" b="1" dirty="0"/>
              <a:t>Clickstream Analysis:</a:t>
            </a:r>
            <a:r>
              <a:rPr lang="en-GB" sz="4200" dirty="0"/>
              <a:t> Analysing user interactions on websites in real-time for personalized experiences.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A144FB-7DC5-5CAE-08DF-2F0684BF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9FEEE5-D051-76FE-D7D8-62426E11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2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4EC654-0F7C-435F-C500-0C0404AED922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4E1487FA-0D8B-03D4-AB34-4D70C1CAD9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52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250B-21A7-C556-717D-7C28B5F0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Building Data Pipelines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9E14-70EC-1D9A-E745-8EE7CC44D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Pipeline: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 series of processes that move data from a source to a destination, transforming and processing it along the way.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Components of a Data Pipeline: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Sources: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Origin of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IoT devices, web applications, mobile apps, backend services.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Ingestion Layer: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Mechanism to collect and transport data to the processing layer.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Tools: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Azure Event Hubs, Azure IoT Hub.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Processing Layer: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Transforming, analysing, and enriching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Tools: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Azure Stream Analytics, Azure Databricks, Azure Functions.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Storage Layer: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Saving processed data for further use.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Tools: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Azure Blob Storage, Azure Data Lake Storage, Azure SQL Database.</a:t>
            </a: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Importance of Data Pipelines: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Scalability: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Handle large volumes of data efficiently.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Real-time Processing: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Enable immediate insights from streaming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Integration: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Combine data from multiple sources for comprehensive analysis.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Automation: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Reduce manual intervention, ensuring consistent and reliable data flow.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2CCC63-E405-9B47-7B40-0491928B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BEB06F-209E-5D13-1E6B-2BF473B4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3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501C88-E12D-39B4-E3D8-2938E2F0709F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081FDBF6-E8AB-E8B3-8099-36AA0A0544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35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A1879-99DD-1A91-354E-4DCBB9622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Data Producers and Event Hubs Integration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A563F-FC6A-34BE-6864-B63EB80D4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Definition: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Data Producers: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Applications, services, or devices that generate data to be ingested by Azure Event Hubs.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Examples of Data Producers: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IoT Devices: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Sensors, smart devices, and other IoT hardware that collect data from the physical world.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Web Applications: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Websites and web services that generate event data such as user interactions, logs, and metrics.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Mobile Apps: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Mobile applications that produce data on user activity, location, and usage patterns.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Backend Services: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Server-side applications and microservices that emit logs, metrics, and other operational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FDF92-B896-3675-DE6D-5263ED10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A9A43A-C3F9-A5A7-A00E-3D347CF1A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4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F167B-2BA9-DB86-BA56-1C192BEBC84C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3EC835E0-012F-D2E8-C3C6-D13CD333DB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611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A4763-D488-5375-4916-0BD5896CE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Data Producers and Event Hubs Integration continued…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0514F-B4D2-0820-524F-D2844305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Integration Methods: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SDKs and APIs: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Azure provides SDKs for various programming languages (e.g., .NET, Java, Python) to easily integrate Event Hubs into applications.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Example Code Snippet (C#):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FF0000"/>
                </a:solidFill>
              </a:rPr>
              <a:t>EventHubProducerClient</a:t>
            </a:r>
            <a:r>
              <a:rPr lang="en-US" sz="1600" dirty="0">
                <a:solidFill>
                  <a:srgbClr val="FF0000"/>
                </a:solidFill>
              </a:rPr>
              <a:t> producer = new </a:t>
            </a:r>
            <a:r>
              <a:rPr lang="en-US" sz="1600" dirty="0" err="1">
                <a:solidFill>
                  <a:srgbClr val="FF0000"/>
                </a:solidFill>
              </a:rPr>
              <a:t>EventHubProducerClient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 err="1">
                <a:solidFill>
                  <a:srgbClr val="FF0000"/>
                </a:solidFill>
              </a:rPr>
              <a:t>connectionString</a:t>
            </a:r>
            <a:r>
              <a:rPr lang="en-US" sz="1600" dirty="0">
                <a:solidFill>
                  <a:srgbClr val="FF0000"/>
                </a:solidFill>
              </a:rPr>
              <a:t>, </a:t>
            </a:r>
            <a:r>
              <a:rPr lang="en-US" sz="1600" dirty="0" err="1">
                <a:solidFill>
                  <a:srgbClr val="FF0000"/>
                </a:solidFill>
              </a:rPr>
              <a:t>eventHubName</a:t>
            </a:r>
            <a:r>
              <a:rPr lang="en-US" sz="1600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using </a:t>
            </a:r>
            <a:r>
              <a:rPr lang="en-US" sz="1600" dirty="0" err="1">
                <a:solidFill>
                  <a:srgbClr val="FF0000"/>
                </a:solidFill>
              </a:rPr>
              <a:t>EventDataBatch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eventBatch</a:t>
            </a:r>
            <a:r>
              <a:rPr lang="en-US" sz="1600" dirty="0">
                <a:solidFill>
                  <a:srgbClr val="FF0000"/>
                </a:solidFill>
              </a:rPr>
              <a:t> = await </a:t>
            </a:r>
            <a:r>
              <a:rPr lang="en-US" sz="1600" dirty="0" err="1">
                <a:solidFill>
                  <a:srgbClr val="FF0000"/>
                </a:solidFill>
              </a:rPr>
              <a:t>producer.CreateBatchAsync</a:t>
            </a:r>
            <a:r>
              <a:rPr lang="en-US" sz="1600" dirty="0">
                <a:solidFill>
                  <a:srgbClr val="FF0000"/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FF0000"/>
                </a:solidFill>
              </a:rPr>
              <a:t>eventBatch.TryAdd</a:t>
            </a:r>
            <a:r>
              <a:rPr lang="en-US" sz="1600" dirty="0">
                <a:solidFill>
                  <a:srgbClr val="FF0000"/>
                </a:solidFill>
              </a:rPr>
              <a:t>(new </a:t>
            </a:r>
            <a:r>
              <a:rPr lang="en-US" sz="1600" dirty="0" err="1">
                <a:solidFill>
                  <a:srgbClr val="FF0000"/>
                </a:solidFill>
              </a:rPr>
              <a:t>EventData</a:t>
            </a:r>
            <a:r>
              <a:rPr lang="en-US" sz="1600" dirty="0">
                <a:solidFill>
                  <a:srgbClr val="FF0000"/>
                </a:solidFill>
              </a:rPr>
              <a:t>(Encoding.UTF8.GetBytes("Sample event data")));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await </a:t>
            </a:r>
            <a:r>
              <a:rPr lang="en-US" sz="1600" dirty="0" err="1">
                <a:solidFill>
                  <a:srgbClr val="FF0000"/>
                </a:solidFill>
              </a:rPr>
              <a:t>producer.SendAsync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 err="1">
                <a:solidFill>
                  <a:srgbClr val="FF0000"/>
                </a:solidFill>
              </a:rPr>
              <a:t>eventBatch</a:t>
            </a:r>
            <a:r>
              <a:rPr lang="en-US" sz="1600" dirty="0">
                <a:solidFill>
                  <a:srgbClr val="FF0000"/>
                </a:solidFill>
              </a:rPr>
              <a:t>);</a:t>
            </a:r>
          </a:p>
          <a:p>
            <a:pPr marL="0" indent="0">
              <a:buNone/>
            </a:pPr>
            <a:endParaRPr lang="en-US" sz="1600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GB" b="1" dirty="0"/>
              <a:t>Azure IoT Hub: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 managed service that acts as a central message hub for bi-directional communication between IoT applications and devices.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IoT Hub can route device telemetry to Event Hubs for further processing.</a:t>
            </a:r>
          </a:p>
          <a:p>
            <a:pPr marL="514350" indent="-514350">
              <a:buFont typeface="+mj-lt"/>
              <a:buAutoNum type="arabicPeriod" startAt="3"/>
            </a:pPr>
            <a:r>
              <a:rPr lang="en-GB" b="1" dirty="0"/>
              <a:t>Custom Connectors: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Developing custom solutions to connect various data sources to Event Hubs using REST APIs or other integration tools.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DABD9A-9336-A931-D1AD-149629CA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Module Outline – Week 1 2024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DDCE6-DF81-7DAC-A74C-8F6EBD724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5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D6CB7C-A172-A05E-77B6-D2B5D619486D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F30E4B2C-249E-97B1-B451-81361FF54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009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E58E-6A63-8D3C-5A33-CC760734F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Ingesting Data from Multiple Sources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969A3-BD69-3867-66C6-D23D594F1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258"/>
            <a:ext cx="10515600" cy="4351338"/>
          </a:xfrm>
        </p:spPr>
        <p:txBody>
          <a:bodyPr>
            <a:normAutofit fontScale="40000" lnSpcReduction="20000"/>
          </a:bodyPr>
          <a:lstStyle/>
          <a:p>
            <a:pPr marL="0" indent="0" algn="l">
              <a:buNone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Step-by-Step Guide:</a:t>
            </a:r>
            <a:endParaRPr lang="en-GB" sz="4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Identify Data Sources:</a:t>
            </a:r>
            <a:endParaRPr lang="en-GB" sz="4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Determine the sources of data to be ingested (e.g., IoT devices, web apps, mobile apps, backend services).</a:t>
            </a:r>
          </a:p>
          <a:p>
            <a:pPr algn="l">
              <a:buFont typeface="+mj-lt"/>
              <a:buAutoNum type="arabicPeriod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Set Up Event Hubs:</a:t>
            </a:r>
            <a:endParaRPr lang="en-GB" sz="4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Create and configure Event Hubs to receive data from each source.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 Create an Event Hub for IoT devices and another for web application logs.</a:t>
            </a:r>
          </a:p>
          <a:p>
            <a:pPr algn="l">
              <a:buFont typeface="+mj-lt"/>
              <a:buAutoNum type="arabicPeriod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Develop Data Producers:</a:t>
            </a:r>
            <a:endParaRPr lang="en-GB" sz="4800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Write code or use tools to send data to Event Hubs from each data source.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 Use Azure SDKs to develop applications that send data to Event Hubs.</a:t>
            </a:r>
            <a:endParaRPr lang="en-US" sz="4800" dirty="0">
              <a:solidFill>
                <a:srgbClr val="FF0000"/>
              </a:solidFill>
            </a:endParaRPr>
          </a:p>
          <a:p>
            <a:pPr marL="514350" indent="-514350" algn="l">
              <a:buFont typeface="+mj-lt"/>
              <a:buAutoNum type="arabicPeriod" startAt="4"/>
            </a:pPr>
            <a:r>
              <a:rPr lang="en-GB" sz="4800" b="1" i="0" u="none" strike="noStrike" dirty="0">
                <a:solidFill>
                  <a:srgbClr val="000000"/>
                </a:solidFill>
                <a:effectLst/>
              </a:rPr>
              <a:t>Monitor Ingestion:</a:t>
            </a:r>
            <a:endParaRPr lang="en-GB" sz="48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Use the Azure Portal to monitor the flow of data into Event Hubs.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4800" b="0" i="0" u="none" strike="noStrike" dirty="0">
                <a:solidFill>
                  <a:srgbClr val="000000"/>
                </a:solidFill>
                <a:effectLst/>
              </a:rPr>
              <a:t>Check metrics such as incoming messages, throughput, and errors.</a:t>
            </a:r>
            <a:endParaRPr lang="en-US" sz="48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F604-88B3-2EF4-CC09-34E448BE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15D88-938C-4FA5-4A0A-C569B90E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6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E1D6A7-610E-AFF9-2EA0-A2732152213B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EBB8A873-E301-6D24-767F-71774F6E7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98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EDC2-828B-6710-FBD1-00BEBD86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Processing and Storing Ingested Data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EC557-B7EB-04E6-A38B-D9AF0916F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Processing Options: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Real-time Processing: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Tool: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Azure Stream Analytics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Function: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Processes data in motion, providing real-time insights.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Analysing sensor data from IoT devices to detect anomalies.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Batch Processing: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Tool: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Azure Data Factory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Function: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Orchestrates and automates data movement and transformation at scale.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Example: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Aggregating daily logs from a web application for end-of-day analysis.</a:t>
            </a:r>
          </a:p>
          <a:p>
            <a:pPr marL="0" indent="0" algn="l"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Storage Solutions: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Azure Blob Storage: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Purpose: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Scalable object storage for unstructured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Storing large volumes of raw event data.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Azure Data Lake Storage: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Purpose: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Designed for big data analytics, supports hierarchical file systems.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Storing processed and unprocessed big data for analytics.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Azure SQL Database: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Purpose: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Relational database service for structured data.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Use Case: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Storing processed data that needs to be queried using SQL.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2793E5-20D7-B7BF-3DC7-C6FE83123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0C623-7520-47BA-8C56-88832165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7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67CD5-86A3-CF08-8AB5-B1733B3E7801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11EA1682-7458-1F77-6BF5-F961B2E6D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69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41BEF-0353-AC98-AF31-FE130D38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Practical Exercise: Building a Data Pipeline with Azure Event Hubs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E586E-9977-F9AA-9B99-499959340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Steps: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Create an Azure Event Hub: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Go to the Azure Portal.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Create a new Event Hubs Namespace.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Within the namespace, create an Event Hub named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DemoEventHub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Set Up Data Producers: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IoT Device Simulation: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Use a C# console application to simulate IoT devices sending data to 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DemoEventHub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Monitor Event Hub: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In the Azure Portal, navigate to your Event Hub.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Check the metrics to ensure messages are being received.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9329F-E7FD-E266-4C07-81C98D09E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06CFF-E494-D615-08AC-F2DEFC424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8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8EA56C-95AB-9439-5335-F4FCE6A3D695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027FA36F-E626-262E-31BE-113135044A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8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4FB1F-60AF-633E-F9FB-C510B0C4B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Continued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C05B3-C02D-DB6F-252B-352A0183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0000" lnSpcReduction="20000"/>
          </a:bodyPr>
          <a:lstStyle/>
          <a:p>
            <a:r>
              <a:rPr lang="en-US" dirty="0"/>
              <a:t>using System;</a:t>
            </a:r>
          </a:p>
          <a:p>
            <a:r>
              <a:rPr lang="en-US" dirty="0"/>
              <a:t>using </a:t>
            </a:r>
            <a:r>
              <a:rPr lang="en-US" dirty="0" err="1"/>
              <a:t>System.Text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System.Threading.Tasks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Azure.Messaging.EventHubs</a:t>
            </a:r>
            <a:r>
              <a:rPr lang="en-US" dirty="0"/>
              <a:t>;</a:t>
            </a:r>
          </a:p>
          <a:p>
            <a:r>
              <a:rPr lang="en-US" dirty="0"/>
              <a:t>using </a:t>
            </a:r>
            <a:r>
              <a:rPr lang="en-US" dirty="0" err="1"/>
              <a:t>Azure.Messaging.EventHubs.Producer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class Program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private const string </a:t>
            </a:r>
            <a:r>
              <a:rPr lang="en-US" dirty="0" err="1"/>
              <a:t>connectionString</a:t>
            </a:r>
            <a:r>
              <a:rPr lang="en-US" dirty="0"/>
              <a:t> = "</a:t>
            </a:r>
            <a:r>
              <a:rPr lang="en-US" dirty="0" err="1"/>
              <a:t>your_connection_string</a:t>
            </a:r>
            <a:r>
              <a:rPr lang="en-US" dirty="0"/>
              <a:t>";</a:t>
            </a:r>
          </a:p>
          <a:p>
            <a:r>
              <a:rPr lang="en-US" dirty="0"/>
              <a:t>    private const string </a:t>
            </a:r>
            <a:r>
              <a:rPr lang="en-US" dirty="0" err="1"/>
              <a:t>eventHubName</a:t>
            </a:r>
            <a:r>
              <a:rPr lang="en-US" dirty="0"/>
              <a:t> = "</a:t>
            </a:r>
            <a:r>
              <a:rPr lang="en-US" dirty="0" err="1"/>
              <a:t>DemoEventHub</a:t>
            </a:r>
            <a:r>
              <a:rPr lang="en-US" dirty="0"/>
              <a:t>";</a:t>
            </a:r>
          </a:p>
          <a:p>
            <a:endParaRPr lang="en-US" dirty="0"/>
          </a:p>
          <a:p>
            <a:r>
              <a:rPr lang="en-US" dirty="0"/>
              <a:t>    static async Task Main(string[] </a:t>
            </a:r>
            <a:r>
              <a:rPr lang="en-US" dirty="0" err="1"/>
              <a:t>args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await </a:t>
            </a:r>
            <a:r>
              <a:rPr lang="en-US" dirty="0" err="1"/>
              <a:t>SendMessagesToEventHub</a:t>
            </a:r>
            <a:r>
              <a:rPr lang="en-US" dirty="0"/>
              <a:t>(5);</a:t>
            </a:r>
          </a:p>
          <a:p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US" dirty="0"/>
              <a:t>    private static async Task </a:t>
            </a:r>
            <a:r>
              <a:rPr lang="en-US" dirty="0" err="1"/>
              <a:t>SendMessagesToEventHub</a:t>
            </a:r>
            <a:r>
              <a:rPr lang="en-US" dirty="0"/>
              <a:t>(int </a:t>
            </a:r>
            <a:r>
              <a:rPr lang="en-US" dirty="0" err="1"/>
              <a:t>numMessages</a:t>
            </a:r>
            <a:r>
              <a:rPr lang="en-US" dirty="0"/>
              <a:t>)</a:t>
            </a:r>
          </a:p>
          <a:p>
            <a:r>
              <a:rPr lang="en-US" dirty="0"/>
              <a:t>    {</a:t>
            </a:r>
          </a:p>
          <a:p>
            <a:r>
              <a:rPr lang="en-US" dirty="0"/>
              <a:t>        await using (var </a:t>
            </a:r>
            <a:r>
              <a:rPr lang="en-US" dirty="0" err="1"/>
              <a:t>producerClient</a:t>
            </a:r>
            <a:r>
              <a:rPr lang="en-US" dirty="0"/>
              <a:t> = new </a:t>
            </a:r>
            <a:r>
              <a:rPr lang="en-US" dirty="0" err="1"/>
              <a:t>EventHubProducerClient</a:t>
            </a:r>
            <a:r>
              <a:rPr lang="en-US" dirty="0"/>
              <a:t>(</a:t>
            </a:r>
            <a:r>
              <a:rPr lang="en-US" dirty="0" err="1"/>
              <a:t>connectionString</a:t>
            </a:r>
            <a:r>
              <a:rPr lang="en-US" dirty="0"/>
              <a:t>, </a:t>
            </a:r>
            <a:r>
              <a:rPr lang="en-US" dirty="0" err="1"/>
              <a:t>eventHubName</a:t>
            </a:r>
            <a:r>
              <a:rPr lang="en-US" dirty="0"/>
              <a:t>))</a:t>
            </a:r>
          </a:p>
          <a:p>
            <a:r>
              <a:rPr lang="en-US" dirty="0"/>
              <a:t>        {</a:t>
            </a:r>
          </a:p>
          <a:p>
            <a:r>
              <a:rPr lang="en-US" dirty="0"/>
              <a:t>            using </a:t>
            </a:r>
            <a:r>
              <a:rPr lang="en-US" dirty="0" err="1"/>
              <a:t>EventDataBatch</a:t>
            </a:r>
            <a:r>
              <a:rPr lang="en-US" dirty="0"/>
              <a:t> </a:t>
            </a:r>
            <a:r>
              <a:rPr lang="en-US" dirty="0" err="1"/>
              <a:t>eventBatch</a:t>
            </a:r>
            <a:r>
              <a:rPr lang="en-US" dirty="0"/>
              <a:t> = await </a:t>
            </a:r>
            <a:r>
              <a:rPr lang="en-US" dirty="0" err="1"/>
              <a:t>producerClient.CreateBatchAsync</a:t>
            </a:r>
            <a:r>
              <a:rPr lang="en-US" dirty="0"/>
              <a:t>();</a:t>
            </a:r>
          </a:p>
          <a:p>
            <a:endParaRPr lang="en-US" dirty="0"/>
          </a:p>
          <a:p>
            <a:r>
              <a:rPr lang="en-US" dirty="0"/>
              <a:t>    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numMessages</a:t>
            </a:r>
            <a:r>
              <a:rPr lang="en-US" dirty="0"/>
              <a:t>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r>
              <a:rPr lang="en-US" dirty="0"/>
              <a:t>            {</a:t>
            </a:r>
          </a:p>
          <a:p>
            <a:r>
              <a:rPr lang="en-US" dirty="0"/>
              <a:t>                </a:t>
            </a:r>
            <a:r>
              <a:rPr lang="en-US" dirty="0" err="1"/>
              <a:t>eventBatch.TryAdd</a:t>
            </a:r>
            <a:r>
              <a:rPr lang="en-US" dirty="0"/>
              <a:t>(new </a:t>
            </a:r>
            <a:r>
              <a:rPr lang="en-US" dirty="0" err="1"/>
              <a:t>EventData</a:t>
            </a:r>
            <a:r>
              <a:rPr lang="en-US" dirty="0"/>
              <a:t>(Encoding.UTF8.GetBytes($"Message {</a:t>
            </a:r>
            <a:r>
              <a:rPr lang="en-US" dirty="0" err="1"/>
              <a:t>i</a:t>
            </a:r>
            <a:r>
              <a:rPr lang="en-US" dirty="0"/>
              <a:t>}")));</a:t>
            </a:r>
          </a:p>
          <a:p>
            <a:r>
              <a:rPr lang="en-US" dirty="0"/>
              <a:t>            }</a:t>
            </a:r>
          </a:p>
          <a:p>
            <a:endParaRPr lang="en-US" dirty="0"/>
          </a:p>
          <a:p>
            <a:r>
              <a:rPr lang="en-US" dirty="0"/>
              <a:t>            await </a:t>
            </a:r>
            <a:r>
              <a:rPr lang="en-US" dirty="0" err="1"/>
              <a:t>producerClient.SendAsync</a:t>
            </a:r>
            <a:r>
              <a:rPr lang="en-US" dirty="0"/>
              <a:t>(</a:t>
            </a:r>
            <a:r>
              <a:rPr lang="en-US" dirty="0" err="1"/>
              <a:t>eventBatch</a:t>
            </a:r>
            <a:r>
              <a:rPr lang="en-US" dirty="0"/>
              <a:t>);</a:t>
            </a:r>
          </a:p>
          <a:p>
            <a:r>
              <a:rPr lang="en-US" dirty="0"/>
              <a:t>            </a:t>
            </a:r>
            <a:r>
              <a:rPr lang="en-US" dirty="0" err="1"/>
              <a:t>Console.WriteLine</a:t>
            </a:r>
            <a:r>
              <a:rPr lang="en-US" dirty="0"/>
              <a:t>($"{</a:t>
            </a:r>
            <a:r>
              <a:rPr lang="en-US" dirty="0" err="1"/>
              <a:t>numMessages</a:t>
            </a:r>
            <a:r>
              <a:rPr lang="en-US" dirty="0"/>
              <a:t>} messages sent.");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DF83E-24C6-40C0-A007-1239BA712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02E9FB-3FFE-529C-FEE7-BD0AE23F1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9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14CC32-3A60-AD58-2DC7-BB21D1D1FDDD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F4478BB4-5372-9B40-2E76-E4D7834BB9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188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92AE-486D-EEBA-DDDE-6E087BC9E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Real-World Use Cases of Azure Event Hubs</a:t>
            </a:r>
            <a:endParaRPr lang="en-US" sz="32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00614-B150-62D4-B6E0-77C1D2AEC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1. Internet of Things (IoT):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Scenario: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Ingesting data from thousands of IoT sensors in a smart city.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Details: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Sensors collect data on traffic, weather, air quality, and energy consumption. Azure Event Hubs ingests this data, which is then processed in real-time to optimize city operations and improve residents' quality of life.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2. Financial Services: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Scenario: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Real-time fraud detection in financial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Details: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Financial institutions use Azure Event Hubs to ingest transaction data in real-time. Stream Analytics processes this data to identify patterns indicative of fraudulent activity, enabling immediate action to prevent fraud.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3. E-commerce: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Scenario: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Real-time personalization and recommendation engine.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Details: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E-commerce platforms collect user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data, such as clicks and purchases, through Azure Event Hubs. This data is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analyzed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in real-time to provide personalized product recommendations, enhancing user experience and increasing sales.</a:t>
            </a:r>
          </a:p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5. Gaming: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Scenario: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Real-time analytics for multiplayer gaming experiences.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Details: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Game developers use Azure Event Hubs to collect real-time data on player actions, game states, and interactions. This data is </a:t>
            </a:r>
            <a:r>
              <a:rPr lang="en-GB" b="0" i="0" u="none" strike="noStrike" dirty="0" err="1">
                <a:solidFill>
                  <a:srgbClr val="000000"/>
                </a:solidFill>
                <a:effectLst/>
              </a:rPr>
              <a:t>analyzed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 to improve game mechanics, balance, and provide dynamic, real-time updates to players.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717E3B-BAAA-7DBF-E358-834A91B72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1ACEF1-AD46-DEBE-8819-B4E1C049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10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AE55AB-9ACB-42E4-D6E1-164051637691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76371FB1-FD9F-9F6A-8F27-1EC5AF4E4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34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7D75-E5EA-D5E7-CD44-EF166FE2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71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ICE2</a:t>
            </a:r>
            <a:b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</a:br>
            <a:r>
              <a:rPr lang="en-GB" sz="3200" b="1" i="0" u="none" strike="noStrike" dirty="0">
                <a:solidFill>
                  <a:srgbClr val="000000"/>
                </a:solidFill>
                <a:effectLst/>
                <a:latin typeface="+mn-lt"/>
              </a:rPr>
              <a:t>Understand the concept of data ingestion with Azure Event Hubs through a simulated environment.</a:t>
            </a:r>
            <a:endParaRPr lang="en-US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28E52-3C0B-4A65-AD07-CDF28624D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2517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Activity Outline: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Introduction (10 minutes):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Briefly review what Azure Event Hubs is and how it works.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Explain the purpose of the activity: simulating data ingestion and processing.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Activity Instructions (5 minutes):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You will use a provided simulation script to emulate data ingestion and processing as if using Azure Event Hubs.</a:t>
            </a:r>
          </a:p>
          <a:p>
            <a:pPr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Simulation Setup (15 minutes):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Provide Students with a Simulation Script:</a:t>
            </a:r>
            <a:endParaRPr lang="en-GB" b="0" i="0" u="none" strike="noStrike" dirty="0">
              <a:solidFill>
                <a:srgbClr val="000000"/>
              </a:solidFill>
              <a:effectLst/>
            </a:endParaRPr>
          </a:p>
          <a:p>
            <a:pPr marL="1143000" lvl="2" indent="-2286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Script Overview: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A C# console application that simulates data ingestion and processing.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Script Content: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 Includes a mock implementation of sending data to an Event Hub and processing it.</a:t>
            </a:r>
          </a:p>
          <a:p>
            <a:pPr marL="514350" indent="-514350">
              <a:buFont typeface="+mj-lt"/>
              <a:buAutoNum type="arabicPeriod"/>
            </a:pPr>
            <a:r>
              <a:rPr lang="en-GB" b="1" dirty="0"/>
              <a:t>Hands-On Simulation (25 minutes):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Students Execute the Simulation Script:</a:t>
            </a:r>
            <a:endParaRPr lang="en-GB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Run the provided C# console application on their machines.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Observe the simulated data ingestion and processing.</a:t>
            </a:r>
          </a:p>
          <a:p>
            <a:pPr marL="514350" indent="-514350">
              <a:buFont typeface="+mj-lt"/>
              <a:buAutoNum type="arabicPeriod" startAt="5"/>
            </a:pPr>
            <a:r>
              <a:rPr lang="en-GB" b="1" dirty="0"/>
              <a:t>Discussion and Wrap-Up (5 minutes):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Discuss:</a:t>
            </a:r>
            <a:r>
              <a:rPr lang="en-GB" dirty="0"/>
              <a:t> Key takeaways from the simulation.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Questions:</a:t>
            </a:r>
            <a:r>
              <a:rPr lang="en-GB" dirty="0"/>
              <a:t> Address any questions about the simulated data pipeline and how it relates to real-world Azure Event Hubs usage.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6E7B6-1892-C384-1174-2E94C80F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BBA6C6-9B83-CFB3-4BAB-4BD1C3547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11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6DAB37-F36F-8010-9CAD-B12D4FD7ED9A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6F1E61C3-13D5-A474-CF5A-09B2C0271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65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90FA2-155D-9D35-5D75-A7EC0D11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+mn-lt"/>
              </a:rPr>
              <a:t>ICE2</a:t>
            </a:r>
          </a:p>
        </p:txBody>
      </p:sp>
      <p:pic>
        <p:nvPicPr>
          <p:cNvPr id="9" name="Content Placeholder 8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B7F5D07-13C8-FEAA-F9A6-4FDDD41995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426" y="1825625"/>
            <a:ext cx="4547148" cy="435133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B132FF-1233-A0DE-2AB2-76263A31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Module Outline – Week 1 2024</a:t>
            </a:r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CD0842-95AA-A492-0EA9-6153ECD6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B93603-BBB4-47AC-9D1F-DB86D93B6237}" type="slidenum">
              <a:rPr lang="en-ZA" smtClean="0"/>
              <a:t>12</a:t>
            </a:fld>
            <a:endParaRPr lang="en-Z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87095-9A8A-3C6C-5042-49A5C75C5318}"/>
              </a:ext>
            </a:extLst>
          </p:cNvPr>
          <p:cNvSpPr/>
          <p:nvPr/>
        </p:nvSpPr>
        <p:spPr>
          <a:xfrm>
            <a:off x="0" y="0"/>
            <a:ext cx="12192000" cy="75111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7" name="Picture 6" descr="A blue and green logo&#10;&#10;Description automatically generated">
            <a:extLst>
              <a:ext uri="{FF2B5EF4-FFF2-40B4-BE49-F238E27FC236}">
                <a16:creationId xmlns:a16="http://schemas.microsoft.com/office/drawing/2014/main" id="{B736138F-96DD-A478-1783-9E71D89342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871" y="886051"/>
            <a:ext cx="1083129" cy="1083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4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1772</Words>
  <Application>Microsoft Macintosh PowerPoint</Application>
  <PresentationFormat>Widescreen</PresentationFormat>
  <Paragraphs>210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Cloud Development 1A</vt:lpstr>
      <vt:lpstr>Recap of Azure Event Hubs</vt:lpstr>
      <vt:lpstr>Building Data Pipelines</vt:lpstr>
      <vt:lpstr>Data Producers and Event Hubs Integration</vt:lpstr>
      <vt:lpstr>Data Producers and Event Hubs Integration continued…</vt:lpstr>
      <vt:lpstr>Ingesting Data from Multiple Sources</vt:lpstr>
      <vt:lpstr>Processing and Storing Ingested Data</vt:lpstr>
      <vt:lpstr>Practical Exercise: Building a Data Pipeline with Azure Event Hubs</vt:lpstr>
      <vt:lpstr>Continued</vt:lpstr>
      <vt:lpstr>Real-World Use Cases of Azure Event Hubs</vt:lpstr>
      <vt:lpstr>ICE2 Understand the concept of data ingestion with Azure Event Hubs through a simulated environment.</vt:lpstr>
      <vt:lpstr>ICE2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1A</dc:title>
  <dc:creator>Amber Bruil</dc:creator>
  <cp:lastModifiedBy>Jennifer van Niekerk</cp:lastModifiedBy>
  <cp:revision>7</cp:revision>
  <dcterms:created xsi:type="dcterms:W3CDTF">2024-02-18T11:41:14Z</dcterms:created>
  <dcterms:modified xsi:type="dcterms:W3CDTF">2024-07-31T11:37:25Z</dcterms:modified>
</cp:coreProperties>
</file>